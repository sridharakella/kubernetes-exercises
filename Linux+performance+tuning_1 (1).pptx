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</p:sldMasterIdLst>
  <p:notesMasterIdLst>
    <p:notesMasterId r:id="rId46"/>
  </p:notesMasterIdLst>
  <p:handoutMasterIdLst>
    <p:handoutMasterId r:id="rId47"/>
  </p:handoutMasterIdLst>
  <p:sldIdLst>
    <p:sldId id="290" r:id="rId5"/>
    <p:sldId id="273" r:id="rId6"/>
    <p:sldId id="297" r:id="rId7"/>
    <p:sldId id="298" r:id="rId8"/>
    <p:sldId id="258" r:id="rId9"/>
    <p:sldId id="299" r:id="rId10"/>
    <p:sldId id="300" r:id="rId11"/>
    <p:sldId id="301" r:id="rId12"/>
    <p:sldId id="276" r:id="rId13"/>
    <p:sldId id="302" r:id="rId14"/>
    <p:sldId id="303" r:id="rId15"/>
    <p:sldId id="304" r:id="rId16"/>
    <p:sldId id="305" r:id="rId17"/>
    <p:sldId id="306" r:id="rId18"/>
    <p:sldId id="312" r:id="rId19"/>
    <p:sldId id="313" r:id="rId20"/>
    <p:sldId id="314" r:id="rId21"/>
    <p:sldId id="315" r:id="rId22"/>
    <p:sldId id="307" r:id="rId23"/>
    <p:sldId id="308" r:id="rId24"/>
    <p:sldId id="316" r:id="rId25"/>
    <p:sldId id="317" r:id="rId26"/>
    <p:sldId id="318" r:id="rId27"/>
    <p:sldId id="309" r:id="rId28"/>
    <p:sldId id="310" r:id="rId29"/>
    <p:sldId id="311" r:id="rId30"/>
    <p:sldId id="320" r:id="rId31"/>
    <p:sldId id="321" r:id="rId32"/>
    <p:sldId id="322" r:id="rId33"/>
    <p:sldId id="319" r:id="rId34"/>
    <p:sldId id="323" r:id="rId35"/>
    <p:sldId id="325" r:id="rId36"/>
    <p:sldId id="324" r:id="rId37"/>
    <p:sldId id="326" r:id="rId38"/>
    <p:sldId id="328" r:id="rId39"/>
    <p:sldId id="329" r:id="rId40"/>
    <p:sldId id="330" r:id="rId41"/>
    <p:sldId id="331" r:id="rId42"/>
    <p:sldId id="332" r:id="rId43"/>
    <p:sldId id="333" r:id="rId44"/>
    <p:sldId id="289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85602" autoAdjust="0"/>
  </p:normalViewPr>
  <p:slideViewPr>
    <p:cSldViewPr snapToGrid="0">
      <p:cViewPr varScale="1">
        <p:scale>
          <a:sx n="91" d="100"/>
          <a:sy n="91" d="100"/>
        </p:scale>
        <p:origin x="29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3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CB4F3C-75A8-4BB8-A18E-B730DDD68B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E10D8-98A5-4E68-A41F-7AA79FF696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764CF-3664-45D0-9B27-4222DB1A6BA7}" type="datetimeFigureOut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EF411-0DAB-4BCE-94A8-E903E20549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1237F-7CCA-4423-B624-29C06FF2E7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CD4AB-B9A2-4248-B31F-8EBC71546D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779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7E720-7243-402E-A0D4-CE3189C951A5}" type="datetimeFigureOut">
              <a:rPr lang="en-US" noProof="0" smtClean="0"/>
              <a:pPr/>
              <a:t>11/4/2020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E9C73-6CDE-45E2-97F8-E3C5308FA232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34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47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007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26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55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12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53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39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46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05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709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21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1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919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1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633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56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472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06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00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00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971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70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4393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93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4748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5378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040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103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7986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25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750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032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8848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7763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3436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9585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641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217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860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005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E9C73-6CDE-45E2-97F8-E3C5308FA23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19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1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55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3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5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F2F0876-DA34-44C2-B05E-66533803F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3400" y="246600"/>
            <a:ext cx="11725200" cy="63648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E352C7E-BCE1-47CD-872E-2935DD89FC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488" y="2103438"/>
            <a:ext cx="5243512" cy="3748087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59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77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95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64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8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7A40E7-331A-409D-8385-D6893D1EA86A}"/>
              </a:ext>
            </a:extLst>
          </p:cNvPr>
          <p:cNvSpPr/>
          <p:nvPr userDrawn="1"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5561E95-1FD2-4358-9E4C-3D2E929E4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48394 w 12192000"/>
              <a:gd name="connsiteY0" fmla="*/ 941695 h 6858000"/>
              <a:gd name="connsiteX1" fmla="*/ 948394 w 12192000"/>
              <a:gd name="connsiteY1" fmla="*/ 5916305 h 6858000"/>
              <a:gd name="connsiteX2" fmla="*/ 6400920 w 12192000"/>
              <a:gd name="connsiteY2" fmla="*/ 5916305 h 6858000"/>
              <a:gd name="connsiteX3" fmla="*/ 6400920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48394" y="941695"/>
                </a:moveTo>
                <a:lnTo>
                  <a:pt x="948394" y="5916305"/>
                </a:lnTo>
                <a:lnTo>
                  <a:pt x="6400920" y="5916305"/>
                </a:lnTo>
                <a:lnTo>
                  <a:pt x="6400920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noProof="0" smtClean="0"/>
              <a:pPr/>
              <a:t>11/4/2020</a:t>
            </a:fld>
            <a:endParaRPr lang="en-US" noProof="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E7077FF-6FAE-4A98-862F-3A2F931B95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357950" y="2852792"/>
            <a:ext cx="4633415" cy="257219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1E07B6-8D69-4F8A-9729-400511B37F8B}"/>
              </a:ext>
            </a:extLst>
          </p:cNvPr>
          <p:cNvSpPr/>
          <p:nvPr userDrawn="1"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7950" y="1352804"/>
            <a:ext cx="4633415" cy="1333641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113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00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pPr/>
              <a:t>11/4/2020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42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9" r:id="rId5"/>
    <p:sldLayoutId id="2147483730" r:id="rId6"/>
    <p:sldLayoutId id="2147483736" r:id="rId7"/>
    <p:sldLayoutId id="2147483737" r:id="rId8"/>
    <p:sldLayoutId id="2147483727" r:id="rId9"/>
    <p:sldLayoutId id="2147483741" r:id="rId10"/>
    <p:sldLayoutId id="2147483740" r:id="rId11"/>
    <p:sldLayoutId id="214748372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Man in headphones with a laptop">
            <a:extLst>
              <a:ext uri="{FF2B5EF4-FFF2-40B4-BE49-F238E27FC236}">
                <a16:creationId xmlns:a16="http://schemas.microsoft.com/office/drawing/2014/main" id="{ADA04C7C-FE8B-4C2F-BF2E-CBD501A02DF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1" y="11"/>
            <a:ext cx="12191978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53F3E-E6E8-4DEE-A6F6-D6A88FD39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 fontScale="90000"/>
          </a:bodyPr>
          <a:lstStyle/>
          <a:p>
            <a:r>
              <a:rPr lang="en-US" dirty="0"/>
              <a:t>Linux performance tuning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54176-1A2D-47B9-B195-FB21407C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2636" y="4248537"/>
            <a:ext cx="9874387" cy="10964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It is designed to teach senior Linux system administrators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the methodology of performance tuning.</a:t>
            </a:r>
            <a:endParaRPr lang="ru-RU" sz="2400" dirty="0">
              <a:solidFill>
                <a:schemeClr val="tx2">
                  <a:lumMod val="90000"/>
                </a:schemeClr>
              </a:solidFill>
            </a:endParaRPr>
          </a:p>
          <a:p>
            <a:pPr>
              <a:spcAft>
                <a:spcPts val="600"/>
              </a:spcAft>
            </a:pPr>
            <a:endParaRPr lang="en-US" sz="240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17353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Young man is writing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91998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Performance Monitoring 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4043" y="2538920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Identify and explain the common system monitoring tools.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Discuss the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sysstat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utility command use.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Understand the Performance Co-Pilot Utility.</a:t>
            </a:r>
          </a:p>
        </p:txBody>
      </p:sp>
    </p:spTree>
    <p:extLst>
      <p:ext uri="{BB962C8B-B14F-4D97-AF65-F5344CB8AC3E}">
        <p14:creationId xmlns:p14="http://schemas.microsoft.com/office/powerpoint/2010/main" val="138679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bg2">
                    <a:lumMod val="50000"/>
                  </a:schemeClr>
                </a:solidFill>
              </a:rPr>
              <a:t>System Monitoring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6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It provides data regarding the actual timing behavior of the system.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Users can perform further analysis using the data provided by monitoring tools.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These tools display information about the Linux system, such as disk space utilization, CPU information, networking information and current rates of upload and download.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These tools information can be used by the way of command line or a graphical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76594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chemeClr val="bg2">
                    <a:lumMod val="50000"/>
                  </a:schemeClr>
                </a:solidFill>
              </a:rPr>
              <a:t>Monitoring 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6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command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top command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free command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lsblk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Findmnt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df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du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GNOME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System Monitor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2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F7692A-5CA9-4710-B9F3-81C8F9C643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9BAC94-6EE6-4C8D-8140-D4B8F6CF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352AEF0-6B6A-4BB0-A115-57B4A698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6137" y="2538920"/>
            <a:ext cx="4400983" cy="34800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dirty="0"/>
              <a:t>Monitoring Processes Using the </a:t>
            </a:r>
            <a:r>
              <a:rPr lang="en-IN" dirty="0" err="1"/>
              <a:t>ps</a:t>
            </a:r>
            <a:r>
              <a:rPr lang="en-IN" dirty="0"/>
              <a:t> Command</a:t>
            </a:r>
          </a:p>
          <a:p>
            <a:r>
              <a:rPr lang="en-IN" dirty="0" err="1"/>
              <a:t>ps</a:t>
            </a:r>
            <a:r>
              <a:rPr lang="en-IN" dirty="0"/>
              <a:t> [options]</a:t>
            </a:r>
          </a:p>
        </p:txBody>
      </p:sp>
    </p:spTree>
    <p:extLst>
      <p:ext uri="{BB962C8B-B14F-4D97-AF65-F5344CB8AC3E}">
        <p14:creationId xmlns:p14="http://schemas.microsoft.com/office/powerpoint/2010/main" val="382240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Monitoring Process Using top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6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 top command is, just like </a:t>
            </a:r>
            <a:r>
              <a:rPr lang="en-US" dirty="0" err="1"/>
              <a:t>ps</a:t>
            </a:r>
            <a:r>
              <a:rPr lang="en-US" dirty="0"/>
              <a:t>, used to display running processes.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 top command provides a real-time report of process activities as it updates its display every few seconds.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Top is very useful to figure out which users and processes are consuming the most system resources at any given time.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04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F7692A-5CA9-4710-B9F3-81C8F9C643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9BAC94-6EE6-4C8D-8140-D4B8F6CF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Lab Session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352AEF0-6B6A-4BB0-A115-57B4A6983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6137" y="2538920"/>
            <a:ext cx="4400983" cy="34800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dirty="0"/>
              <a:t>Monitoring Processes Using the top Command</a:t>
            </a:r>
          </a:p>
          <a:p>
            <a:r>
              <a:rPr lang="en-IN" dirty="0"/>
              <a:t>top –n 1 (</a:t>
            </a:r>
            <a:r>
              <a:rPr lang="en-US" dirty="0"/>
              <a:t>option terminates the program after a single display of the process list.)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08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Monitoring Memory Usage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6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 free command lists both free and used physical memory and swap memory.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free [OPTIONS]</a:t>
            </a:r>
          </a:p>
        </p:txBody>
      </p:sp>
    </p:spTree>
    <p:extLst>
      <p:ext uri="{BB962C8B-B14F-4D97-AF65-F5344CB8AC3E}">
        <p14:creationId xmlns:p14="http://schemas.microsoft.com/office/powerpoint/2010/main" val="76432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Monitoring Processes Using the </a:t>
            </a:r>
            <a:r>
              <a:rPr lang="en-IN" dirty="0" err="1"/>
              <a:t>ps</a:t>
            </a:r>
            <a:r>
              <a:rPr lang="en-IN" dirty="0"/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707235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Monitoring File System Usage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6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lsblk</a:t>
            </a:r>
            <a:r>
              <a:rPr lang="en-US" dirty="0"/>
              <a:t> 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df –h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 du</a:t>
            </a:r>
          </a:p>
        </p:txBody>
      </p:sp>
    </p:spTree>
    <p:extLst>
      <p:ext uri="{BB962C8B-B14F-4D97-AF65-F5344CB8AC3E}">
        <p14:creationId xmlns:p14="http://schemas.microsoft.com/office/powerpoint/2010/main" val="11732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Using GNOME System Monitor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6"/>
            <a:ext cx="4602152" cy="3480066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gnome-system-monitor</a:t>
            </a:r>
          </a:p>
        </p:txBody>
      </p:sp>
    </p:spTree>
    <p:extLst>
      <p:ext uri="{BB962C8B-B14F-4D97-AF65-F5344CB8AC3E}">
        <p14:creationId xmlns:p14="http://schemas.microsoft.com/office/powerpoint/2010/main" val="1497001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14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Sysstat</a:t>
            </a:r>
            <a:r>
              <a:rPr lang="en-US" sz="4400" dirty="0"/>
              <a:t> Package Utilities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56" y="2140085"/>
            <a:ext cx="4602152" cy="4281735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It provides utilities for Linux performance monitoring.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This is the best tool I found for the debugging the performance issue on your Linux systems. 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Sysstat</a:t>
            </a:r>
            <a:r>
              <a:rPr lang="en-US" dirty="0"/>
              <a:t> is an open source and freely available tool.</a:t>
            </a:r>
          </a:p>
          <a:p>
            <a:pPr marL="673200" lvl="1" indent="-2160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i-FI" sz="1600" dirty="0"/>
              <a:t>mpstat</a:t>
            </a:r>
          </a:p>
          <a:p>
            <a:pPr marL="673200" lvl="1" indent="-2160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i-FI" sz="1600" dirty="0"/>
              <a:t>iostat</a:t>
            </a:r>
          </a:p>
          <a:p>
            <a:pPr marL="673200" lvl="1" indent="-2160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i-FI" sz="1600" dirty="0"/>
              <a:t>pidstat</a:t>
            </a:r>
          </a:p>
          <a:p>
            <a:pPr marL="673200" lvl="1" indent="-2160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i-FI" sz="1600" dirty="0"/>
              <a:t>tapestat</a:t>
            </a:r>
          </a:p>
          <a:p>
            <a:pPr marL="673200" lvl="1" indent="-2160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i-FI" sz="1600" dirty="0"/>
              <a:t>cifsiostat</a:t>
            </a:r>
          </a:p>
          <a:p>
            <a:pPr marL="673200" lvl="1" indent="-2160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fi-FI" sz="1600" dirty="0"/>
              <a:t>sar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700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557933"/>
            <a:ext cx="5196725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Activity Reporter - SAR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dirty="0" err="1"/>
              <a:t>sar</a:t>
            </a:r>
            <a:r>
              <a:rPr lang="en-US" dirty="0"/>
              <a:t> you can monitor performance of different Linux subsystems (CPU, Memory, I/O..) in real time. 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 System Activity Reporter SAR, can display a lot of information about your computer and save that information to files for later analysis. This program and its related tools are part of the </a:t>
            </a:r>
            <a:r>
              <a:rPr lang="en-US" dirty="0" err="1"/>
              <a:t>sysstat</a:t>
            </a:r>
            <a:r>
              <a:rPr lang="en-US" dirty="0"/>
              <a:t> package. 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SAR command can be used interactively.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To use it noninteractively, an agent is executed at a scheduled time using the </a:t>
            </a:r>
            <a:r>
              <a:rPr lang="en-US" dirty="0" err="1"/>
              <a:t>cron</a:t>
            </a:r>
            <a:r>
              <a:rPr lang="en-US" dirty="0"/>
              <a:t> command to collect data.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Cron file name is 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cron.d</a:t>
            </a:r>
            <a:r>
              <a:rPr lang="en-US" dirty="0"/>
              <a:t>/</a:t>
            </a:r>
            <a:r>
              <a:rPr lang="en-US" dirty="0" err="1"/>
              <a:t>sysstat</a:t>
            </a:r>
            <a:r>
              <a:rPr lang="en-US" dirty="0"/>
              <a:t> which runs the </a:t>
            </a:r>
            <a:r>
              <a:rPr lang="fr-FR" dirty="0"/>
              <a:t>/usr/lib64/sa/sa1 and /usr/lib64/sa/sa2 commands.</a:t>
            </a: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29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557933"/>
            <a:ext cx="5196725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Activity Reporter - SAR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Some configuration can be done in the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sysconfig</a:t>
            </a:r>
            <a:r>
              <a:rPr lang="en-US" dirty="0"/>
              <a:t>/</a:t>
            </a:r>
            <a:r>
              <a:rPr lang="en-US" dirty="0" err="1"/>
              <a:t>sysstat</a:t>
            </a:r>
            <a:r>
              <a:rPr lang="en-US" dirty="0"/>
              <a:t> file. The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sysconfig</a:t>
            </a:r>
            <a:r>
              <a:rPr lang="en-US" dirty="0"/>
              <a:t>/</a:t>
            </a:r>
            <a:r>
              <a:rPr lang="en-US" dirty="0" err="1"/>
              <a:t>sysstat</a:t>
            </a:r>
            <a:r>
              <a:rPr lang="en-US" dirty="0"/>
              <a:t> file is read by the sa1 and sa2 scripts and allows some configurable options for the </a:t>
            </a:r>
            <a:r>
              <a:rPr lang="en-US" dirty="0" err="1"/>
              <a:t>sar</a:t>
            </a:r>
            <a:r>
              <a:rPr lang="en-US" dirty="0"/>
              <a:t> command. 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For example, change the HISTORY variable to set the number of days archives are kept for the </a:t>
            </a:r>
            <a:r>
              <a:rPr lang="en-US" dirty="0" err="1"/>
              <a:t>sar</a:t>
            </a:r>
            <a:r>
              <a:rPr lang="en-US" dirty="0"/>
              <a:t> command.</a:t>
            </a:r>
          </a:p>
        </p:txBody>
      </p:sp>
    </p:spTree>
    <p:extLst>
      <p:ext uri="{BB962C8B-B14F-4D97-AF65-F5344CB8AC3E}">
        <p14:creationId xmlns:p14="http://schemas.microsoft.com/office/powerpoint/2010/main" val="32567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557933"/>
            <a:ext cx="5196725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Activity Reporter - SAR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Advantages: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Cumulative stats data will be available.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Continuous monitoring of system stats.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Able to fetch system stats at any point of time.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Daily System performance will get captured. For 30 days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No need of manual intervention for collecting stats.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Quick stats overview at any given time.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24 hours system stats will get collected.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8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SAR</a:t>
            </a:r>
          </a:p>
        </p:txBody>
      </p:sp>
    </p:spTree>
    <p:extLst>
      <p:ext uri="{BB962C8B-B14F-4D97-AF65-F5344CB8AC3E}">
        <p14:creationId xmlns:p14="http://schemas.microsoft.com/office/powerpoint/2010/main" val="1980729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97B1-F677-4C82-9865-227A9B7D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79" y="421877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    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Sysstat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Package Utilities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151" y="1870841"/>
            <a:ext cx="10983310" cy="36933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err="1"/>
              <a:t>iostat</a:t>
            </a:r>
            <a:r>
              <a:rPr lang="en-US" dirty="0"/>
              <a:t> : Reports all statistics about your CPU and I/O statistics for I/O devices..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err="1"/>
              <a:t>mpstat</a:t>
            </a:r>
            <a:r>
              <a:rPr lang="en-US" dirty="0"/>
              <a:t> : Details about CPUs (individual or combined)..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err="1"/>
              <a:t>pidstat</a:t>
            </a:r>
            <a:r>
              <a:rPr lang="en-US" dirty="0"/>
              <a:t> : Statistics about running processes/task, CPU, memory etc.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err="1"/>
              <a:t>tapestat</a:t>
            </a:r>
            <a:r>
              <a:rPr lang="en-US" dirty="0"/>
              <a:t> : Used for the statistics for tape drives attached to Linux system.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err="1"/>
              <a:t>cifsiostat</a:t>
            </a:r>
            <a:r>
              <a:rPr lang="en-US" dirty="0"/>
              <a:t> : Reports statistics on shared file systems, printers, or serial ports over a network.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err="1"/>
              <a:t>sar</a:t>
            </a:r>
            <a:r>
              <a:rPr lang="en-US" dirty="0"/>
              <a:t> : Save and report details about different resources (CPU, Memory, IO, Network, kernel etc..).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3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97B1-F677-4C82-9865-227A9B7D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79" y="421877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    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Sysstat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Package Utilities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151" y="1870841"/>
            <a:ext cx="10983310" cy="36933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b="1" dirty="0"/>
              <a:t>Features of the </a:t>
            </a:r>
            <a:r>
              <a:rPr lang="en-US" b="1" dirty="0" err="1"/>
              <a:t>Sysstat</a:t>
            </a:r>
            <a:r>
              <a:rPr lang="en-US" b="1" dirty="0"/>
              <a:t> Package Utilities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Users can configure the length of statistical data history to be archived.</a:t>
            </a:r>
          </a:p>
          <a:p>
            <a:pPr lvl="1"/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Users can save statistical data in a file for future inspection, and can export in different file formats, such as CSV,  JSON, and XML.</a:t>
            </a:r>
          </a:p>
          <a:p>
            <a:pPr lvl="1"/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Users can generate graphs using statistical data. For example, the </a:t>
            </a:r>
            <a:r>
              <a:rPr lang="en-US" dirty="0" err="1"/>
              <a:t>isag</a:t>
            </a:r>
            <a:r>
              <a:rPr lang="en-US" dirty="0"/>
              <a:t> command enables a user to plot data stored in a daily data file by a previous </a:t>
            </a:r>
            <a:r>
              <a:rPr lang="en-US" dirty="0" err="1"/>
              <a:t>sar</a:t>
            </a:r>
            <a:r>
              <a:rPr lang="en-US" dirty="0"/>
              <a:t> run.</a:t>
            </a:r>
          </a:p>
          <a:p>
            <a:pPr lvl="1"/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sysstat</a:t>
            </a:r>
            <a:r>
              <a:rPr lang="en-US" dirty="0"/>
              <a:t> package utilities automatically select the measurement units to display sizes for easier reading.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3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97B1-F677-4C82-9865-227A9B7D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79" y="421877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            Using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Systemd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Timer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151" y="1870841"/>
            <a:ext cx="10983310" cy="31700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sz="2000" b="1" dirty="0"/>
              <a:t>Scheduling tasks with </a:t>
            </a:r>
            <a:r>
              <a:rPr lang="en-US" sz="2000" b="1" dirty="0" err="1"/>
              <a:t>Systemd</a:t>
            </a:r>
            <a:r>
              <a:rPr lang="en-US" sz="2000" b="1" dirty="0"/>
              <a:t> Timer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With the advent of </a:t>
            </a:r>
            <a:r>
              <a:rPr lang="en-US" dirty="0" err="1"/>
              <a:t>systemd</a:t>
            </a:r>
            <a:r>
              <a:rPr lang="en-US" dirty="0"/>
              <a:t> in Red Hat Enterprise Linux 7, a new scheduling function is now available: </a:t>
            </a:r>
            <a:r>
              <a:rPr lang="en-US" dirty="0" err="1"/>
              <a:t>systemd</a:t>
            </a:r>
            <a:r>
              <a:rPr lang="en-US" dirty="0"/>
              <a:t> timer units. A </a:t>
            </a:r>
            <a:r>
              <a:rPr lang="en-US" dirty="0" err="1"/>
              <a:t>systemd</a:t>
            </a:r>
            <a:r>
              <a:rPr lang="en-US" dirty="0"/>
              <a:t> timer unit activates another unit of a different type (such as a service) whose unit name matches the timer unit name. The timer unit allows timer-based activation of other units. For easier debugging, </a:t>
            </a:r>
            <a:r>
              <a:rPr lang="en-US" dirty="0" err="1"/>
              <a:t>systemd</a:t>
            </a:r>
            <a:r>
              <a:rPr lang="en-US" dirty="0"/>
              <a:t> logs timer events in system journals.</a:t>
            </a:r>
          </a:p>
          <a:p>
            <a:pPr lvl="1">
              <a:buFont typeface="Arial" pitchFamily="34" charset="0"/>
              <a:buChar char="•"/>
            </a:pP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sysstat</a:t>
            </a:r>
            <a:r>
              <a:rPr lang="en-US" dirty="0"/>
              <a:t> package provides a </a:t>
            </a:r>
            <a:r>
              <a:rPr lang="en-US" dirty="0" err="1"/>
              <a:t>systemd</a:t>
            </a:r>
            <a:r>
              <a:rPr lang="en-US" dirty="0"/>
              <a:t> timer unit called </a:t>
            </a:r>
            <a:r>
              <a:rPr lang="en-US" dirty="0" err="1"/>
              <a:t>sysstat-collect.timer</a:t>
            </a:r>
            <a:r>
              <a:rPr lang="en-US" dirty="0"/>
              <a:t> to collect system statistics every 10 minutes.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44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557933"/>
            <a:ext cx="5196725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Viewing Hardware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Hardware Resources: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Before tuning the performance of a system, it is important to understand the theoretical capabilities of that system. The first step toward that understanding is to develop a hardware profile of the system that you want to tune.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CPU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Memory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Storage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dirty="0"/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12388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557933"/>
            <a:ext cx="5196725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Viewing Hardware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Reviewing Kernel Messages: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 easiest and most direct source of hardware information is the running Linux kernel. The kernel exposes information structures through the /proc file system, the /sys file system.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Kernel messages are written to a </a:t>
            </a:r>
            <a:r>
              <a:rPr lang="en-US" dirty="0" err="1"/>
              <a:t>preallocated</a:t>
            </a:r>
            <a:r>
              <a:rPr lang="en-US" dirty="0"/>
              <a:t> ring buffer known as the </a:t>
            </a:r>
            <a:r>
              <a:rPr lang="en-US" dirty="0" err="1"/>
              <a:t>dmesg</a:t>
            </a:r>
            <a:r>
              <a:rPr lang="en-US" dirty="0"/>
              <a:t> buffer.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dmesg</a:t>
            </a:r>
            <a:r>
              <a:rPr lang="en-US" dirty="0"/>
              <a:t> command is used to get ring buffer messages. </a:t>
            </a:r>
          </a:p>
        </p:txBody>
      </p:sp>
    </p:spTree>
    <p:extLst>
      <p:ext uri="{BB962C8B-B14F-4D97-AF65-F5344CB8AC3E}">
        <p14:creationId xmlns:p14="http://schemas.microsoft.com/office/powerpoint/2010/main" val="28865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IOSTAT</a:t>
            </a:r>
            <a:r>
              <a:rPr lang="en-US" dirty="0"/>
              <a:t>: Reports all statistics about your CPU and I/O statistics for I/O devices.</a:t>
            </a:r>
          </a:p>
          <a:p>
            <a:r>
              <a:rPr lang="en-US" dirty="0"/>
              <a:t>Command to install on different Distros:</a:t>
            </a:r>
          </a:p>
          <a:p>
            <a:r>
              <a:rPr lang="en-US" dirty="0"/>
              <a:t>On RedHat / CentOS / Fedora</a:t>
            </a:r>
          </a:p>
          <a:p>
            <a:r>
              <a:rPr lang="en-US" dirty="0"/>
              <a:t>yum install </a:t>
            </a:r>
            <a:r>
              <a:rPr lang="en-US" dirty="0" err="1"/>
              <a:t>sysstat</a:t>
            </a:r>
            <a:endParaRPr lang="en-US" dirty="0"/>
          </a:p>
          <a:p>
            <a:r>
              <a:rPr lang="en-US" dirty="0"/>
              <a:t>On Debian / Ubuntu / Linux Mint</a:t>
            </a:r>
          </a:p>
          <a:p>
            <a:r>
              <a:rPr lang="en-US" dirty="0"/>
              <a:t>apt-get install </a:t>
            </a:r>
            <a:r>
              <a:rPr lang="en-US" dirty="0" err="1"/>
              <a:t>sysstat</a:t>
            </a:r>
            <a:endParaRPr lang="en-US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4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MPSTAT : Details about CPUs (individual or combined)..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59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/>
              <a:t>PIDSTAT </a:t>
            </a:r>
            <a:r>
              <a:rPr lang="en-US" dirty="0"/>
              <a:t>: Statistics about running processes/task, CPU, memory etc.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14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557933"/>
            <a:ext cx="5196725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Viewing Hardware Resources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Reviewing Kernel Messages: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The easiest and most direct source of hardware information is the running Linux kernel. The kernel exposes information structures through the /proc file system, the /sys file system.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Kernel messages are written to a </a:t>
            </a:r>
            <a:r>
              <a:rPr lang="en-US" dirty="0" err="1"/>
              <a:t>preallocated</a:t>
            </a:r>
            <a:r>
              <a:rPr lang="en-US" dirty="0"/>
              <a:t> ring buffer known as the </a:t>
            </a:r>
            <a:r>
              <a:rPr lang="en-US" dirty="0" err="1"/>
              <a:t>dmesg</a:t>
            </a:r>
            <a:r>
              <a:rPr lang="en-US" dirty="0"/>
              <a:t> buffer.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dmesg</a:t>
            </a:r>
            <a:r>
              <a:rPr lang="en-US" dirty="0"/>
              <a:t> command is used to get ring buffer messages. </a:t>
            </a:r>
          </a:p>
        </p:txBody>
      </p:sp>
    </p:spTree>
    <p:extLst>
      <p:ext uri="{BB962C8B-B14F-4D97-AF65-F5344CB8AC3E}">
        <p14:creationId xmlns:p14="http://schemas.microsoft.com/office/powerpoint/2010/main" val="284490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97B1-F677-4C82-9865-227A9B7D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79" y="421877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Retrieving SMBIOS/DMI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2AD7F-0DC5-47E3-A03D-DB2A759BA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404" y="2157499"/>
            <a:ext cx="61531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58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Retrieving Peripheral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768936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dirty="0"/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lspci</a:t>
            </a:r>
            <a:r>
              <a:rPr lang="en-US" b="1" dirty="0"/>
              <a:t>: </a:t>
            </a:r>
            <a:r>
              <a:rPr lang="en-US" dirty="0"/>
              <a:t>lists devices connected to PCI buses in the system</a:t>
            </a:r>
          </a:p>
          <a:p>
            <a:pPr marL="216000" indent="-216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 err="1"/>
              <a:t>lsusb</a:t>
            </a:r>
            <a:r>
              <a:rPr lang="en-US" b="1" dirty="0"/>
              <a:t>: </a:t>
            </a:r>
            <a:r>
              <a:rPr lang="en-US" dirty="0"/>
              <a:t>lists devices connected to system’s USB buses</a:t>
            </a:r>
          </a:p>
        </p:txBody>
      </p:sp>
    </p:spTree>
    <p:extLst>
      <p:ext uri="{BB962C8B-B14F-4D97-AF65-F5344CB8AC3E}">
        <p14:creationId xmlns:p14="http://schemas.microsoft.com/office/powerpoint/2010/main" val="179416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an shows something on the laptop">
            <a:extLst>
              <a:ext uri="{FF2B5EF4-FFF2-40B4-BE49-F238E27FC236}">
                <a16:creationId xmlns:a16="http://schemas.microsoft.com/office/drawing/2014/main" id="{CCB0035C-155F-4A5B-87BE-89762733C8E1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336" y="254902"/>
            <a:ext cx="7751429" cy="63472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02F139-264F-4B41-B39A-9E8B2901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Lab Session</a:t>
            </a:r>
            <a:br>
              <a:rPr lang="en-US" sz="4800" dirty="0">
                <a:solidFill>
                  <a:schemeClr val="bg2">
                    <a:lumMod val="50000"/>
                  </a:schemeClr>
                </a:solidFill>
              </a:rPr>
            </a:br>
            <a:endParaRPr lang="ru-RU" sz="4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3A788-3AD8-4DE5-9133-A2903C640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8430" y="1827784"/>
            <a:ext cx="3362414" cy="3511296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IN" sz="1600" dirty="0"/>
              <a:t>Portable Hardware Locality (</a:t>
            </a:r>
            <a:r>
              <a:rPr lang="en-IN" sz="1600" dirty="0" err="1"/>
              <a:t>hwloc</a:t>
            </a:r>
            <a:r>
              <a:rPr lang="en-IN" sz="1600" dirty="0"/>
              <a:t>)</a:t>
            </a:r>
          </a:p>
          <a:p>
            <a:r>
              <a:rPr lang="en-IN" sz="1600" dirty="0"/>
              <a:t>Listing Hardware Configurations (</a:t>
            </a:r>
            <a:r>
              <a:rPr lang="en-IN" sz="1600" dirty="0" err="1"/>
              <a:t>lshw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650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97B1-F677-4C82-9865-227A9B7D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79" y="421877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4800" dirty="0"/>
              <a:t>   Portable Hardware Locality (</a:t>
            </a:r>
            <a:r>
              <a:rPr lang="en-IN" sz="4800" dirty="0" err="1"/>
              <a:t>hwloc</a:t>
            </a:r>
            <a:r>
              <a:rPr lang="en-IN" sz="48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FFB3B-1581-4DD1-B5EA-D7C44876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1935717"/>
            <a:ext cx="81724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16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500" b="1" dirty="0"/>
              <a:t>Introducing the Proc File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584378"/>
            <a:ext cx="4602152" cy="469421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proc file system is a pseudo file system that provides an interface to kernel data structures.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It is a virtual file system created on fly when system boots and is dissolved at time of system shut down.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kernel mounts the proc file system on the /proc during boot time.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files in the /proc directory having read-only permissions for static information and writable for configurable settings and kernel </a:t>
            </a:r>
            <a:r>
              <a:rPr lang="en-US" dirty="0" err="1"/>
              <a:t>tunables</a:t>
            </a:r>
            <a:r>
              <a:rPr lang="en-US" dirty="0"/>
              <a:t>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800" b="1" dirty="0"/>
              <a:t>Introducing Kernel </a:t>
            </a:r>
            <a:r>
              <a:rPr lang="en-US" sz="2800" b="1" dirty="0" err="1"/>
              <a:t>Tunables</a:t>
            </a:r>
            <a:endParaRPr lang="en-US" sz="28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00150"/>
            <a:ext cx="4602152" cy="52630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Linux kernel keeps the information and </a:t>
            </a:r>
            <a:r>
              <a:rPr lang="en-US" dirty="0" err="1"/>
              <a:t>tunables</a:t>
            </a:r>
            <a:r>
              <a:rPr lang="en-US" dirty="0"/>
              <a:t> to user-space through the /proc directory.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/proc/sys subdirectory contains configurable parameters for tuning kernel behavior.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Most files in /proc/sys are writable by root </a:t>
            </a:r>
            <a:r>
              <a:rPr lang="en-US"/>
              <a:t>and modifying </a:t>
            </a:r>
            <a:r>
              <a:rPr lang="en-US" dirty="0"/>
              <a:t>files in /proc/sys causes immediate changes in the running system.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Since all /proc/sys file changes write directly to the kernel in memory, changes are not persistent across reboots. Kernel tunable settings will revert to a kernel module's default settings unless configured persistently in appropriate configuration files.</a:t>
            </a:r>
          </a:p>
        </p:txBody>
      </p:sp>
    </p:spTree>
    <p:extLst>
      <p:ext uri="{BB962C8B-B14F-4D97-AF65-F5344CB8AC3E}">
        <p14:creationId xmlns:p14="http://schemas.microsoft.com/office/powerpoint/2010/main" val="17520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800" b="1" dirty="0"/>
              <a:t>Modifying Kernel </a:t>
            </a:r>
            <a:r>
              <a:rPr lang="en-US" sz="2800" b="1" dirty="0" err="1"/>
              <a:t>Tunables</a:t>
            </a:r>
            <a:endParaRPr lang="en-US" sz="28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00150"/>
            <a:ext cx="4602152" cy="52630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Use an editor or redirection to modify files in the /proc/sys directory.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Use the </a:t>
            </a:r>
            <a:r>
              <a:rPr lang="en-US" dirty="0" err="1"/>
              <a:t>sysctl</a:t>
            </a:r>
            <a:r>
              <a:rPr lang="en-US" dirty="0"/>
              <a:t> command to set a parameter by name.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Create entries for parameters in configuration files in the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sysctl.d</a:t>
            </a:r>
            <a:r>
              <a:rPr lang="en-US" dirty="0"/>
              <a:t> directory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400" b="1" dirty="0"/>
              <a:t>/</a:t>
            </a:r>
            <a:r>
              <a:rPr lang="en-US" sz="1400" b="1" dirty="0" err="1"/>
              <a:t>etc</a:t>
            </a:r>
            <a:r>
              <a:rPr lang="en-US" sz="1400" b="1" dirty="0"/>
              <a:t>/</a:t>
            </a:r>
            <a:r>
              <a:rPr lang="en-US" sz="1400" b="1" dirty="0" err="1"/>
              <a:t>sysctl.d</a:t>
            </a:r>
            <a:r>
              <a:rPr lang="en-US" sz="1400" b="1" dirty="0"/>
              <a:t>/*.conf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400" b="1" dirty="0"/>
              <a:t>/run/</a:t>
            </a:r>
            <a:r>
              <a:rPr lang="en-US" sz="1400" b="1" dirty="0" err="1"/>
              <a:t>sysctl.d</a:t>
            </a:r>
            <a:r>
              <a:rPr lang="en-US" sz="1400" b="1" dirty="0"/>
              <a:t>/*.conf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400" b="1" dirty="0"/>
              <a:t>/</a:t>
            </a:r>
            <a:r>
              <a:rPr lang="en-US" sz="1400" b="1" dirty="0" err="1"/>
              <a:t>usr</a:t>
            </a:r>
            <a:r>
              <a:rPr lang="en-US" sz="1400" b="1" dirty="0"/>
              <a:t>/lib/</a:t>
            </a:r>
            <a:r>
              <a:rPr lang="en-US" sz="1400" b="1" dirty="0" err="1"/>
              <a:t>sysctl.d</a:t>
            </a:r>
            <a:r>
              <a:rPr lang="en-US" sz="1400" b="1" dirty="0"/>
              <a:t>/*.conf</a:t>
            </a:r>
          </a:p>
        </p:txBody>
      </p:sp>
    </p:spTree>
    <p:extLst>
      <p:ext uri="{BB962C8B-B14F-4D97-AF65-F5344CB8AC3E}">
        <p14:creationId xmlns:p14="http://schemas.microsoft.com/office/powerpoint/2010/main" val="227616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500" b="1" dirty="0"/>
              <a:t>Introducing the </a:t>
            </a:r>
            <a:r>
              <a:rPr lang="en-US" sz="2500" b="1" dirty="0" err="1"/>
              <a:t>Sysfs</a:t>
            </a:r>
            <a:r>
              <a:rPr lang="en-US" sz="2500" b="1" dirty="0"/>
              <a:t> File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49680"/>
            <a:ext cx="4602152" cy="50289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sysfs</a:t>
            </a:r>
            <a:r>
              <a:rPr lang="en-US" dirty="0"/>
              <a:t> file system is also a pseudo </a:t>
            </a:r>
            <a:r>
              <a:rPr lang="en-US"/>
              <a:t>file system.</a:t>
            </a: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It is a virtual file system created on fly when system boots and is dissolved at time of system shut down.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kernel mounts the </a:t>
            </a:r>
            <a:r>
              <a:rPr lang="en-US" dirty="0" err="1"/>
              <a:t>sysfs</a:t>
            </a:r>
            <a:r>
              <a:rPr lang="en-US" dirty="0"/>
              <a:t> file system on the /sys during boot time.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files in the /sys directory provide access to information and parameters for devices, file systems, and other software loaded as a kernel module.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files in the /sys directory having read-only permissions for static information and others are writable settings.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2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500" b="1" dirty="0"/>
              <a:t>Managing Resource Limits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49680"/>
            <a:ext cx="4602152" cy="50289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Limiting System Resources with </a:t>
            </a:r>
            <a:r>
              <a:rPr lang="en-US" b="1" dirty="0" err="1"/>
              <a:t>ulimit</a:t>
            </a:r>
            <a:endParaRPr lang="en-US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shell contains a built in command called "</a:t>
            </a:r>
            <a:r>
              <a:rPr lang="en-US" dirty="0" err="1"/>
              <a:t>Ulimit</a:t>
            </a:r>
            <a:r>
              <a:rPr lang="en-US" dirty="0"/>
              <a:t>" which allows you to display and set resource limits for users. The systems resources are defined in a file called "/</a:t>
            </a:r>
            <a:r>
              <a:rPr lang="en-US" dirty="0" err="1"/>
              <a:t>etc</a:t>
            </a:r>
            <a:r>
              <a:rPr lang="en-US" dirty="0"/>
              <a:t>/security/</a:t>
            </a:r>
            <a:r>
              <a:rPr lang="en-US" dirty="0" err="1"/>
              <a:t>limits.conf</a:t>
            </a:r>
            <a:r>
              <a:rPr lang="en-US" dirty="0"/>
              <a:t>". </a:t>
            </a:r>
            <a:r>
              <a:rPr lang="en-US" dirty="0" err="1"/>
              <a:t>Ulimit</a:t>
            </a:r>
            <a:r>
              <a:rPr lang="en-US" dirty="0"/>
              <a:t> can then be used to view these settings.</a:t>
            </a:r>
          </a:p>
        </p:txBody>
      </p:sp>
    </p:spTree>
    <p:extLst>
      <p:ext uri="{BB962C8B-B14F-4D97-AF65-F5344CB8AC3E}">
        <p14:creationId xmlns:p14="http://schemas.microsoft.com/office/powerpoint/2010/main" val="108585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97B1-F677-4C82-9865-227A9B7D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779" y="421877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/>
              <a:t>           Managing Resource Limits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2151" y="1870841"/>
            <a:ext cx="10983310" cy="42780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000" b="1" dirty="0"/>
              <a:t>Limiting System Resources with </a:t>
            </a:r>
            <a:r>
              <a:rPr lang="en-US" sz="2000" b="1" dirty="0" err="1"/>
              <a:t>ulimit</a:t>
            </a:r>
            <a:endParaRPr lang="en-US" sz="2000" b="1" dirty="0"/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shell contains a built in command called "</a:t>
            </a:r>
            <a:r>
              <a:rPr lang="en-US" dirty="0" err="1"/>
              <a:t>Ulimit</a:t>
            </a:r>
            <a:r>
              <a:rPr lang="en-US" dirty="0"/>
              <a:t>" which allows you to display and set resource limits for users. The systems resources are defined in a file called "/</a:t>
            </a:r>
            <a:r>
              <a:rPr lang="en-US" dirty="0" err="1"/>
              <a:t>etc</a:t>
            </a:r>
            <a:r>
              <a:rPr lang="en-US" dirty="0"/>
              <a:t>/security/</a:t>
            </a:r>
            <a:r>
              <a:rPr lang="en-US" dirty="0" err="1"/>
              <a:t>limits.conf</a:t>
            </a:r>
            <a:r>
              <a:rPr lang="en-US" dirty="0"/>
              <a:t>". </a:t>
            </a:r>
            <a:r>
              <a:rPr lang="en-US" dirty="0" err="1"/>
              <a:t>Ulimit</a:t>
            </a:r>
            <a:r>
              <a:rPr lang="en-US" dirty="0"/>
              <a:t> can then be used to view these settings.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The defining of system resource limitations is critical to a smooth running system. By defining restrictions to users, you are safe guarding your system from running out of memory, space or from a rouge process that spawns multiple processes. Limits can be placed globally, individually or by group. 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47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b="1" dirty="0"/>
              <a:t>Configuring Persistent </a:t>
            </a:r>
            <a:r>
              <a:rPr lang="en-US" sz="2400" b="1" dirty="0" err="1"/>
              <a:t>ulimit</a:t>
            </a:r>
            <a:r>
              <a:rPr lang="en-US" sz="2400" b="1" dirty="0"/>
              <a:t> Rules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49680"/>
            <a:ext cx="4602152" cy="50289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6474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b="1" dirty="0"/>
              <a:t>Lab Session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49680"/>
            <a:ext cx="4602152" cy="502891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tom</a:t>
            </a:r>
            <a:r>
              <a:rPr lang="en-US" sz="2000" dirty="0"/>
              <a:t> user must be limited to a maximum of 12 processes and this should be a hard limit.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Users in the </a:t>
            </a:r>
            <a:r>
              <a:rPr lang="en-US" sz="2000" b="1" dirty="0" err="1"/>
              <a:t>db</a:t>
            </a:r>
            <a:r>
              <a:rPr lang="en-US" sz="2000" dirty="0"/>
              <a:t> group must be limited to 128 MiB of virtual memory and this should be a hard limit (128 MiB equals 131072 KiB)</a:t>
            </a:r>
          </a:p>
        </p:txBody>
      </p:sp>
    </p:spTree>
    <p:extLst>
      <p:ext uri="{BB962C8B-B14F-4D97-AF65-F5344CB8AC3E}">
        <p14:creationId xmlns:p14="http://schemas.microsoft.com/office/powerpoint/2010/main" val="174752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54C6CA-D723-4A6A-9734-5910A1729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/>
        </p:blipFill>
        <p:spPr>
          <a:xfrm>
            <a:off x="143737" y="12164"/>
            <a:ext cx="11902659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F5067F-B05A-4CB4-8FEF-12162F4F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28" y="389160"/>
            <a:ext cx="5595959" cy="135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b="1" dirty="0"/>
              <a:t>Lab Session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4A91-7AB8-40C3-9C11-950FF5FC7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228" y="1249680"/>
            <a:ext cx="4602152" cy="502891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b="1" dirty="0"/>
              <a:t>Setting Limits for Services</a:t>
            </a:r>
          </a:p>
          <a:p>
            <a:pPr marL="342900" indent="-342900">
              <a:lnSpc>
                <a:spcPct val="10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Configure the </a:t>
            </a:r>
            <a:r>
              <a:rPr lang="en-US" sz="2000" b="1" dirty="0" err="1"/>
              <a:t>crond</a:t>
            </a:r>
            <a:r>
              <a:rPr lang="en-US" sz="2000" dirty="0"/>
              <a:t> service with a </a:t>
            </a:r>
            <a:r>
              <a:rPr lang="en-US" sz="2000" dirty="0" err="1"/>
              <a:t>cgroup</a:t>
            </a:r>
            <a:r>
              <a:rPr lang="en-US" sz="2000" dirty="0"/>
              <a:t> </a:t>
            </a:r>
            <a:r>
              <a:rPr lang="en-US" sz="2000" b="1" dirty="0" err="1"/>
              <a:t>MemoryLimit</a:t>
            </a:r>
            <a:r>
              <a:rPr lang="en-US" sz="2000" dirty="0"/>
              <a:t> of </a:t>
            </a:r>
            <a:r>
              <a:rPr lang="en-US" sz="2000" b="1" dirty="0"/>
              <a:t>1G</a:t>
            </a:r>
            <a:r>
              <a:rPr lang="en-US" sz="2000" dirty="0"/>
              <a:t>, using the command line and default slice.</a:t>
            </a:r>
          </a:p>
        </p:txBody>
      </p:sp>
    </p:spTree>
    <p:extLst>
      <p:ext uri="{BB962C8B-B14F-4D97-AF65-F5344CB8AC3E}">
        <p14:creationId xmlns:p14="http://schemas.microsoft.com/office/powerpoint/2010/main" val="293353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Placeholder 9" descr="Laptop and notebook on the table">
            <a:extLst>
              <a:ext uri="{FF2B5EF4-FFF2-40B4-BE49-F238E27FC236}">
                <a16:creationId xmlns:a16="http://schemas.microsoft.com/office/drawing/2014/main" id="{201D9675-DFD6-4198-A186-4B82257CEE9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10"/>
            <a:ext cx="12191982" cy="6857990"/>
          </a:xfrm>
          <a:prstGeom prst="rect">
            <a:avLst/>
          </a:prstGeom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AD4937-CA34-4C89-9BAF-9E011BE57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055" y="2350017"/>
            <a:ext cx="4775075" cy="16309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400" cap="all" spc="-100" dirty="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4B761-DD6A-43A0-8600-88D390E1E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6055" y="3990546"/>
            <a:ext cx="4775075" cy="559656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endParaRPr lang="en-US" sz="1500" spc="8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380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Savon">
      <a:maj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Corporate_Teach a Course_04_Win32_MO - v4" id="{2AE1B83A-9721-4EF8-B275-2624D019C8C0}" vid="{8CDF83C5-BCF3-42CE-9DDC-151D6253CC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243E30-12F4-4BE3-B27D-23AB115E9D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96A612-58F4-4E9A-9665-3987CC3AC4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5E4A76-0180-4CD0-B081-82F74A33613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Teach a course presentation</Template>
  <TotalTime>0</TotalTime>
  <Words>1846</Words>
  <Application>Microsoft Office PowerPoint</Application>
  <PresentationFormat>Widescreen</PresentationFormat>
  <Paragraphs>246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Garamond</vt:lpstr>
      <vt:lpstr>Wingdings</vt:lpstr>
      <vt:lpstr>SavonVTI</vt:lpstr>
      <vt:lpstr>Linux performance tuning</vt:lpstr>
      <vt:lpstr>Performance Monitoring Tools</vt:lpstr>
      <vt:lpstr>System Monitoring</vt:lpstr>
      <vt:lpstr>Monitoring Tools</vt:lpstr>
      <vt:lpstr>Lab Session</vt:lpstr>
      <vt:lpstr>Monitoring Process Using top</vt:lpstr>
      <vt:lpstr>Lab Session</vt:lpstr>
      <vt:lpstr>Monitoring Memory Usage</vt:lpstr>
      <vt:lpstr>Lab Session</vt:lpstr>
      <vt:lpstr>Monitoring File System Usage</vt:lpstr>
      <vt:lpstr>Lab Session</vt:lpstr>
      <vt:lpstr>Using GNOME System Monitor</vt:lpstr>
      <vt:lpstr>Lab Session</vt:lpstr>
      <vt:lpstr>Sysstat Package Utilities</vt:lpstr>
      <vt:lpstr>System Activity Reporter - SAR</vt:lpstr>
      <vt:lpstr>System Activity Reporter - SAR</vt:lpstr>
      <vt:lpstr>System Activity Reporter - SAR</vt:lpstr>
      <vt:lpstr>Lab Session</vt:lpstr>
      <vt:lpstr>       Sysstat Package Utilities</vt:lpstr>
      <vt:lpstr>       Sysstat Package Utilities</vt:lpstr>
      <vt:lpstr>              Using Systemd Timer</vt:lpstr>
      <vt:lpstr>Viewing Hardware Resources</vt:lpstr>
      <vt:lpstr>Viewing Hardware Resources</vt:lpstr>
      <vt:lpstr>Lab Session</vt:lpstr>
      <vt:lpstr>Lab Session</vt:lpstr>
      <vt:lpstr>Lab Session</vt:lpstr>
      <vt:lpstr>Viewing Hardware Resources</vt:lpstr>
      <vt:lpstr>Retrieving SMBIOS/DMI Information</vt:lpstr>
      <vt:lpstr>Retrieving Peripheral Information</vt:lpstr>
      <vt:lpstr>Lab Session </vt:lpstr>
      <vt:lpstr>   Portable Hardware Locality (hwloc)</vt:lpstr>
      <vt:lpstr>Introducing the Proc File System</vt:lpstr>
      <vt:lpstr>Introducing Kernel Tunables</vt:lpstr>
      <vt:lpstr>Modifying Kernel Tunables</vt:lpstr>
      <vt:lpstr>Introducing the Sysfs File System</vt:lpstr>
      <vt:lpstr>Managing Resource Limits</vt:lpstr>
      <vt:lpstr>           Managing Resource Limits</vt:lpstr>
      <vt:lpstr>Configuring Persistent ulimit Rules</vt:lpstr>
      <vt:lpstr>Lab Session</vt:lpstr>
      <vt:lpstr>Lab Session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performance tuning</dc:title>
  <dc:creator>Shikhar Verma</dc:creator>
  <cp:lastModifiedBy>Shikhar Verma</cp:lastModifiedBy>
  <cp:revision>73</cp:revision>
  <dcterms:created xsi:type="dcterms:W3CDTF">2020-09-25T06:30:29Z</dcterms:created>
  <dcterms:modified xsi:type="dcterms:W3CDTF">2020-11-04T07:06:01Z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